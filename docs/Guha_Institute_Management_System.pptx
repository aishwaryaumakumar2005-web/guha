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663440"/>
            <a:ext cx="3657600" cy="365760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126" y="962406"/>
            <a:ext cx="452628" cy="4526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31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GUHA ACADEMY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26974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Institute Management System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3794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Training Guide — Features, Screens &amp; Step-by-Step Workflows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4709160"/>
            <a:ext cx="38404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8920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 •  Fees  •  Attendance  •  Payroll  •  Reports  •  AI Assistant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651053"/>
            <a:ext cx="362102" cy="3621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71600" y="93268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tour of every module and the exact steps to use it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353312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69164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49808" y="189280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678" y="1995678"/>
            <a:ext cx="251460" cy="251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9808" y="246888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749808" y="277063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registration, roles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364992" y="169164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566160" y="189280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9030" y="1995678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66160" y="246888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Navigation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3566160" y="277063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cards, AI insights, search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181344" y="169164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382512" y="189280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5382" y="1995678"/>
            <a:ext cx="251460" cy="2514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382512" y="246888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Section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6382512" y="277063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courses, staff, attendance, exams, leaves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8997696" y="169164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9198864" y="189280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1734" y="1995678"/>
            <a:ext cx="251460" cy="2514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198864" y="246888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Section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9198864" y="277063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Enquiries, fees, expenses, payroll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548640" y="3858768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749808" y="4059936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678" y="4162806"/>
            <a:ext cx="251460" cy="25146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49808" y="4636008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350" dirty="0"/>
          </a:p>
        </p:txBody>
      </p:sp>
      <p:sp>
        <p:nvSpPr>
          <p:cNvPr id="31" name="Text 23"/>
          <p:cNvSpPr/>
          <p:nvPr/>
        </p:nvSpPr>
        <p:spPr>
          <a:xfrm>
            <a:off x="749808" y="4937760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PDF/Excel export, Google Sync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3364992" y="3858768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3566160" y="4059936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9030" y="4162806"/>
            <a:ext cx="251460" cy="25146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3566160" y="4636008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&amp; Accounting</a:t>
            </a:r>
            <a:endParaRPr lang="en-US" sz="1350" dirty="0"/>
          </a:p>
        </p:txBody>
      </p:sp>
      <p:sp>
        <p:nvSpPr>
          <p:cNvPr id="36" name="Text 27"/>
          <p:cNvSpPr/>
          <p:nvPr/>
        </p:nvSpPr>
        <p:spPr>
          <a:xfrm>
            <a:off x="3566160" y="4937760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cards, GST invoices, Tally/Zoho export</a:t>
            </a:r>
            <a:endParaRPr lang="en-US" sz="1050" dirty="0"/>
          </a:p>
        </p:txBody>
      </p:sp>
      <p:sp>
        <p:nvSpPr>
          <p:cNvPr id="37" name="Shape 28"/>
          <p:cNvSpPr/>
          <p:nvPr/>
        </p:nvSpPr>
        <p:spPr>
          <a:xfrm>
            <a:off x="6181344" y="3858768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38" name="Shape 29"/>
          <p:cNvSpPr/>
          <p:nvPr/>
        </p:nvSpPr>
        <p:spPr>
          <a:xfrm>
            <a:off x="6382512" y="4059936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5382" y="4162806"/>
            <a:ext cx="251460" cy="25146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6382512" y="4636008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</a:t>
            </a:r>
            <a:endParaRPr lang="en-US" sz="1350" dirty="0"/>
          </a:p>
        </p:txBody>
      </p:sp>
      <p:sp>
        <p:nvSpPr>
          <p:cNvPr id="41" name="Text 31"/>
          <p:cNvSpPr/>
          <p:nvPr/>
        </p:nvSpPr>
        <p:spPr>
          <a:xfrm>
            <a:off x="6382512" y="4937760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Chatbot, advisor, predictive analytics</a:t>
            </a:r>
            <a:endParaRPr lang="en-US" sz="1050" dirty="0"/>
          </a:p>
        </p:txBody>
      </p:sp>
      <p:sp>
        <p:nvSpPr>
          <p:cNvPr id="42" name="Shape 32"/>
          <p:cNvSpPr/>
          <p:nvPr/>
        </p:nvSpPr>
        <p:spPr>
          <a:xfrm>
            <a:off x="8997696" y="3858768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43" name="Shape 33"/>
          <p:cNvSpPr/>
          <p:nvPr/>
        </p:nvSpPr>
        <p:spPr>
          <a:xfrm>
            <a:off x="9198864" y="4059936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01734" y="4162806"/>
            <a:ext cx="251460" cy="251460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9198864" y="4636008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Console</a:t>
            </a:r>
            <a:endParaRPr lang="en-US" sz="1350" dirty="0"/>
          </a:p>
        </p:txBody>
      </p:sp>
      <p:sp>
        <p:nvSpPr>
          <p:cNvPr id="46" name="Text 35"/>
          <p:cNvSpPr/>
          <p:nvPr/>
        </p:nvSpPr>
        <p:spPr>
          <a:xfrm>
            <a:off x="9198864" y="4937760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Settings, backups, users</a:t>
            </a:r>
            <a:endParaRPr lang="en-US" sz="1050" dirty="0"/>
          </a:p>
        </p:txBody>
      </p:sp>
      <p:sp>
        <p:nvSpPr>
          <p:cNvPr id="47" name="Text 36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651053"/>
            <a:ext cx="362102" cy="3621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This App?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71600" y="93268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web application to run your entire computer institute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353312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691640"/>
            <a:ext cx="6492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Flask-based web application built specifically for computer training institutes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the full lifecycle: enquiries → enrollment → attendance → exams → fees → payroll → reports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access levels — Admin (full control) and Staff (attendance &amp; leave only)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AI features: an institute advisor, predictive analytics, and a chatbot assistant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from any browser — Chrome, Edge, or Firefox — no installation needed for end users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452360" y="1737360"/>
            <a:ext cx="4160520" cy="4023360"/>
          </a:xfrm>
          <a:prstGeom prst="roundRect">
            <a:avLst>
              <a:gd name="adj" fmla="val 1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52360" y="1737360"/>
            <a:ext cx="4160520" cy="36576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7598664" y="185623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8"/>
          <p:cNvSpPr/>
          <p:nvPr/>
        </p:nvSpPr>
        <p:spPr>
          <a:xfrm>
            <a:off x="7799832" y="185623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9"/>
          <p:cNvSpPr/>
          <p:nvPr/>
        </p:nvSpPr>
        <p:spPr>
          <a:xfrm>
            <a:off x="8001000" y="185623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/>
          <p:nvPr/>
        </p:nvSpPr>
        <p:spPr>
          <a:xfrm>
            <a:off x="8275320" y="17373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guha-academy.local/dashboard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680960" y="2331720"/>
            <a:ext cx="17145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790688" y="2386584"/>
            <a:ext cx="1531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248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790688" y="2752344"/>
            <a:ext cx="1531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Students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9624060" y="2331720"/>
            <a:ext cx="17145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9733788" y="2386584"/>
            <a:ext cx="1531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9733788" y="2752344"/>
            <a:ext cx="1531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680960" y="3200400"/>
            <a:ext cx="17145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790688" y="3255264"/>
            <a:ext cx="1531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7790688" y="3621024"/>
            <a:ext cx="1531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9624060" y="3200400"/>
            <a:ext cx="17145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9733788" y="3255264"/>
            <a:ext cx="1531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9733788" y="3621024"/>
            <a:ext cx="1531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Enquiries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7680960" y="4206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726680" y="4800600"/>
            <a:ext cx="320040" cy="45720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28" name="Shape 25"/>
          <p:cNvSpPr/>
          <p:nvPr/>
        </p:nvSpPr>
        <p:spPr>
          <a:xfrm>
            <a:off x="8275320" y="4526280"/>
            <a:ext cx="320040" cy="73152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29" name="Shape 26"/>
          <p:cNvSpPr/>
          <p:nvPr/>
        </p:nvSpPr>
        <p:spPr>
          <a:xfrm>
            <a:off x="8823960" y="4709160"/>
            <a:ext cx="320040" cy="54864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30" name="Shape 27"/>
          <p:cNvSpPr/>
          <p:nvPr/>
        </p:nvSpPr>
        <p:spPr>
          <a:xfrm>
            <a:off x="9372600" y="4343400"/>
            <a:ext cx="320040" cy="91440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31" name="Shape 28"/>
          <p:cNvSpPr/>
          <p:nvPr/>
        </p:nvSpPr>
        <p:spPr>
          <a:xfrm>
            <a:off x="9921240" y="4572000"/>
            <a:ext cx="320040" cy="68580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32" name="Shape 29"/>
          <p:cNvSpPr/>
          <p:nvPr/>
        </p:nvSpPr>
        <p:spPr>
          <a:xfrm>
            <a:off x="10469880" y="4206240"/>
            <a:ext cx="320040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Text 30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651053"/>
            <a:ext cx="362102" cy="3621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Behind the App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71600" y="93268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powers the system under the hood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353312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691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49808" y="189280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678" y="1995678"/>
            <a:ext cx="251460" cy="251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9808" y="2468880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749808" y="2770632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Flask, SQLAlchemy — handles all business logic and routes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251960" y="1691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453128" y="189280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5998" y="1995678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453128" y="2468880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453128" y="2770632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5, Chart.js, HTML5 QR Scanner — the screens you interact with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7955280" y="1691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156448" y="189280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9318" y="1995678"/>
            <a:ext cx="251460" cy="2514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156448" y="2468880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8156448" y="2770632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— lightweight, file-based, auto-backed-up daily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548640" y="3886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49808" y="408736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678" y="4190238"/>
            <a:ext cx="251460" cy="2514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49808" y="4663440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749808" y="4965192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fpdf2 for PDF generation, openpyxl for Excel exports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4251960" y="3886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453128" y="408736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5998" y="4190238"/>
            <a:ext cx="251460" cy="25146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453128" y="4663440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350" dirty="0"/>
          </a:p>
        </p:txBody>
      </p:sp>
      <p:sp>
        <p:nvSpPr>
          <p:cNvPr id="31" name="Text 23"/>
          <p:cNvSpPr/>
          <p:nvPr/>
        </p:nvSpPr>
        <p:spPr>
          <a:xfrm>
            <a:off x="4453128" y="4965192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Flask-Login — secure session-based sign in for every user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7955280" y="3886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8156448" y="408736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9318" y="4190238"/>
            <a:ext cx="251460" cy="25146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156448" y="4663440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350" dirty="0"/>
          </a:p>
        </p:txBody>
      </p:sp>
      <p:sp>
        <p:nvSpPr>
          <p:cNvPr id="36" name="Text 27"/>
          <p:cNvSpPr/>
          <p:nvPr/>
        </p:nvSpPr>
        <p:spPr>
          <a:xfrm>
            <a:off x="8156448" y="4965192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/ OpenAI (optional) — powers the advisor, chatbot &amp; forecasts</a:t>
            </a:r>
            <a:endParaRPr lang="en-US" sz="1050" dirty="0"/>
          </a:p>
        </p:txBody>
      </p:sp>
      <p:sp>
        <p:nvSpPr>
          <p:cNvPr id="37" name="Text 28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651053"/>
            <a:ext cx="362102" cy="3621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Modules at a Glance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71600" y="93268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organized into four sidebar groups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353312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69164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49808" y="18928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678" y="1995678"/>
            <a:ext cx="251460" cy="251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9808" y="2468880"/>
            <a:ext cx="4946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749808" y="2770632"/>
            <a:ext cx="49469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· Courses · Staff · Attendance · Exams · Leaves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126480" y="169164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327648" y="18928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0518" y="1995678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27648" y="2468880"/>
            <a:ext cx="4946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6327648" y="2770632"/>
            <a:ext cx="49469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&amp; Ledger · Expenses · Payroll · Enquiries · Salary Calculator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48640" y="416052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49808" y="43616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678" y="4464558"/>
            <a:ext cx="251460" cy="2514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49808" y="4937760"/>
            <a:ext cx="4946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749808" y="5239512"/>
            <a:ext cx="49469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(Income/Fees/Expense/P&amp;L) · Google Sync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6126480" y="416052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327648" y="43616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0518" y="4464558"/>
            <a:ext cx="251460" cy="2514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327648" y="4937760"/>
            <a:ext cx="4946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Console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6327648" y="5239512"/>
            <a:ext cx="49469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keys · SMTP/WhatsApp/SMS · GST settings · Users · Backups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651053"/>
            <a:ext cx="362102" cy="3621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Roles: Admin vs Staff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71600" y="93268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tailors what each person can see and do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353312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7315200" cy="4114800"/>
        </p:xfrm>
        <a:graphic>
          <a:graphicData uri="http://schemas.openxmlformats.org/drawingml/2006/table">
            <a:tbl>
              <a:tblPr/>
              <a:tblGrid>
                <a:gridCol w="4389120"/>
                <a:gridCol w="1463040"/>
                <a:gridCol w="1463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Dashboard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 Students / Courses / Staff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 Fees, Expenses, Payroll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 Attendance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courses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 for Leave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Reports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Console (Settings)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Chatbot &amp; AI Features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183880" y="1645920"/>
            <a:ext cx="3429000" cy="4114800"/>
          </a:xfrm>
          <a:prstGeom prst="roundRect">
            <a:avLst>
              <a:gd name="adj" fmla="val 2133"/>
            </a:avLst>
          </a:prstGeom>
          <a:solidFill>
            <a:srgbClr val="F0FDFA"/>
          </a:solidFill>
          <a:ln/>
        </p:spPr>
      </p:sp>
      <p:sp>
        <p:nvSpPr>
          <p:cNvPr id="9" name="Shape 5"/>
          <p:cNvSpPr/>
          <p:nvPr/>
        </p:nvSpPr>
        <p:spPr>
          <a:xfrm>
            <a:off x="8412480" y="19202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5924" y="2043684"/>
            <a:ext cx="301752" cy="30175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412480" y="2606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view is intentionally simple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8412480" y="315468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members only see the Dashboard, Attendance, Leaves, Extra Features, and the Chatbot. Every other menu item is hidden — reducing clutter and preventing accidental changes to financial data.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651053"/>
            <a:ext cx="362102" cy="3621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Complete Workflow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71600" y="93268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lead becomes a graduate — start to finish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353312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2286000"/>
            <a:ext cx="1481328" cy="2011680"/>
          </a:xfrm>
          <a:prstGeom prst="roundRect">
            <a:avLst>
              <a:gd name="adj" fmla="val 4938"/>
            </a:avLst>
          </a:prstGeom>
          <a:solidFill>
            <a:srgbClr val="F0FDFA"/>
          </a:solidFill>
          <a:ln/>
        </p:spPr>
      </p:sp>
      <p:sp>
        <p:nvSpPr>
          <p:cNvPr id="8" name="Shape 5"/>
          <p:cNvSpPr/>
          <p:nvPr/>
        </p:nvSpPr>
        <p:spPr>
          <a:xfrm>
            <a:off x="1014984" y="2487168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" y="2610612"/>
            <a:ext cx="301752" cy="3017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2920" y="315468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03504" y="3493008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logged in Enquiries pipeline</a:t>
            </a:r>
            <a:endParaRPr lang="en-US" sz="9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9864" y="2944368"/>
            <a:ext cx="256032" cy="25603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2145792" y="2286000"/>
            <a:ext cx="1481328" cy="2011680"/>
          </a:xfrm>
          <a:prstGeom prst="roundRect">
            <a:avLst>
              <a:gd name="adj" fmla="val 4938"/>
            </a:avLst>
          </a:prstGeom>
          <a:solidFill>
            <a:srgbClr val="F8FAFC"/>
          </a:solidFill>
          <a:ln/>
        </p:spPr>
      </p:sp>
      <p:sp>
        <p:nvSpPr>
          <p:cNvPr id="14" name="Shape 9"/>
          <p:cNvSpPr/>
          <p:nvPr/>
        </p:nvSpPr>
        <p:spPr>
          <a:xfrm>
            <a:off x="2612136" y="2487168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5580" y="2610612"/>
            <a:ext cx="301752" cy="30175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100072" y="315468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2200656" y="3493008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to Student, courses assigned</a:t>
            </a:r>
            <a:endParaRPr lang="en-US" sz="9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7016" y="2944368"/>
            <a:ext cx="256032" cy="256032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3742944" y="2286000"/>
            <a:ext cx="1481328" cy="2011680"/>
          </a:xfrm>
          <a:prstGeom prst="roundRect">
            <a:avLst>
              <a:gd name="adj" fmla="val 4938"/>
            </a:avLst>
          </a:prstGeom>
          <a:solidFill>
            <a:srgbClr val="F0FDFA"/>
          </a:solidFill>
          <a:ln/>
        </p:spPr>
      </p:sp>
      <p:sp>
        <p:nvSpPr>
          <p:cNvPr id="20" name="Shape 13"/>
          <p:cNvSpPr/>
          <p:nvPr/>
        </p:nvSpPr>
        <p:spPr>
          <a:xfrm>
            <a:off x="4209288" y="2487168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2732" y="2610612"/>
            <a:ext cx="301752" cy="30175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697224" y="315468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250" dirty="0"/>
          </a:p>
        </p:txBody>
      </p:sp>
      <p:sp>
        <p:nvSpPr>
          <p:cNvPr id="23" name="Text 15"/>
          <p:cNvSpPr/>
          <p:nvPr/>
        </p:nvSpPr>
        <p:spPr>
          <a:xfrm>
            <a:off x="3797808" y="3493008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daily, manually or via QR scan</a:t>
            </a:r>
            <a:endParaRPr lang="en-US" sz="9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4168" y="2944368"/>
            <a:ext cx="256032" cy="256032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5340096" y="2286000"/>
            <a:ext cx="1481328" cy="2011680"/>
          </a:xfrm>
          <a:prstGeom prst="roundRect">
            <a:avLst>
              <a:gd name="adj" fmla="val 4938"/>
            </a:avLst>
          </a:prstGeom>
          <a:solidFill>
            <a:srgbClr val="F8FAFC"/>
          </a:solidFill>
          <a:ln/>
        </p:spPr>
      </p:sp>
      <p:sp>
        <p:nvSpPr>
          <p:cNvPr id="26" name="Shape 17"/>
          <p:cNvSpPr/>
          <p:nvPr/>
        </p:nvSpPr>
        <p:spPr>
          <a:xfrm>
            <a:off x="5806440" y="2487168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29884" y="2610612"/>
            <a:ext cx="301752" cy="301752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294376" y="315468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Exams</a:t>
            </a:r>
            <a:endParaRPr lang="en-US" sz="1250" dirty="0"/>
          </a:p>
        </p:txBody>
      </p:sp>
      <p:sp>
        <p:nvSpPr>
          <p:cNvPr id="29" name="Text 19"/>
          <p:cNvSpPr/>
          <p:nvPr/>
        </p:nvSpPr>
        <p:spPr>
          <a:xfrm>
            <a:off x="5394960" y="3493008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entered, PDF reports generated</a:t>
            </a:r>
            <a:endParaRPr lang="en-US" sz="90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51320" y="2944368"/>
            <a:ext cx="256032" cy="256032"/>
          </a:xfrm>
          <a:prstGeom prst="rect">
            <a:avLst/>
          </a:prstGeom>
        </p:spPr>
      </p:pic>
      <p:sp>
        <p:nvSpPr>
          <p:cNvPr id="31" name="Shape 20"/>
          <p:cNvSpPr/>
          <p:nvPr/>
        </p:nvSpPr>
        <p:spPr>
          <a:xfrm>
            <a:off x="6937248" y="2286000"/>
            <a:ext cx="1481328" cy="2011680"/>
          </a:xfrm>
          <a:prstGeom prst="roundRect">
            <a:avLst>
              <a:gd name="adj" fmla="val 4938"/>
            </a:avLst>
          </a:prstGeom>
          <a:solidFill>
            <a:srgbClr val="F0FDFA"/>
          </a:solidFill>
          <a:ln/>
        </p:spPr>
      </p:sp>
      <p:sp>
        <p:nvSpPr>
          <p:cNvPr id="32" name="Shape 21"/>
          <p:cNvSpPr/>
          <p:nvPr/>
        </p:nvSpPr>
        <p:spPr>
          <a:xfrm>
            <a:off x="7403592" y="2487168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27036" y="2610612"/>
            <a:ext cx="301752" cy="301752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6891528" y="315468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</a:t>
            </a:r>
            <a:endParaRPr lang="en-US" sz="1250" dirty="0"/>
          </a:p>
        </p:txBody>
      </p:sp>
      <p:sp>
        <p:nvSpPr>
          <p:cNvPr id="35" name="Text 23"/>
          <p:cNvSpPr/>
          <p:nvPr/>
        </p:nvSpPr>
        <p:spPr>
          <a:xfrm>
            <a:off x="6992112" y="3493008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recorded, GST invoice issued</a:t>
            </a:r>
            <a:endParaRPr lang="en-US" sz="900" dirty="0"/>
          </a:p>
        </p:txBody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48472" y="2944368"/>
            <a:ext cx="256032" cy="256032"/>
          </a:xfrm>
          <a:prstGeom prst="rect">
            <a:avLst/>
          </a:prstGeom>
        </p:spPr>
      </p:pic>
      <p:sp>
        <p:nvSpPr>
          <p:cNvPr id="37" name="Shape 24"/>
          <p:cNvSpPr/>
          <p:nvPr/>
        </p:nvSpPr>
        <p:spPr>
          <a:xfrm>
            <a:off x="8534400" y="2286000"/>
            <a:ext cx="1481328" cy="2011680"/>
          </a:xfrm>
          <a:prstGeom prst="roundRect">
            <a:avLst>
              <a:gd name="adj" fmla="val 4938"/>
            </a:avLst>
          </a:prstGeom>
          <a:solidFill>
            <a:srgbClr val="F8FAFC"/>
          </a:solidFill>
          <a:ln/>
        </p:spPr>
      </p:sp>
      <p:sp>
        <p:nvSpPr>
          <p:cNvPr id="38" name="Shape 25"/>
          <p:cNvSpPr/>
          <p:nvPr/>
        </p:nvSpPr>
        <p:spPr>
          <a:xfrm>
            <a:off x="9000744" y="2487168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24188" y="2610612"/>
            <a:ext cx="301752" cy="301752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8488680" y="315468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sz="1250" dirty="0"/>
          </a:p>
        </p:txBody>
      </p:sp>
      <p:sp>
        <p:nvSpPr>
          <p:cNvPr id="41" name="Text 27"/>
          <p:cNvSpPr/>
          <p:nvPr/>
        </p:nvSpPr>
        <p:spPr>
          <a:xfrm>
            <a:off x="8589264" y="3493008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salary computed &amp; paid from fee revenue</a:t>
            </a:r>
            <a:endParaRPr lang="en-US" sz="900" dirty="0"/>
          </a:p>
        </p:txBody>
      </p:sp>
      <p:pic>
        <p:nvPicPr>
          <p:cNvPr id="4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45624" y="2944368"/>
            <a:ext cx="256032" cy="256032"/>
          </a:xfrm>
          <a:prstGeom prst="rect">
            <a:avLst/>
          </a:prstGeom>
        </p:spPr>
      </p:pic>
      <p:sp>
        <p:nvSpPr>
          <p:cNvPr id="43" name="Shape 28"/>
          <p:cNvSpPr/>
          <p:nvPr/>
        </p:nvSpPr>
        <p:spPr>
          <a:xfrm>
            <a:off x="10131552" y="2286000"/>
            <a:ext cx="1481328" cy="2011680"/>
          </a:xfrm>
          <a:prstGeom prst="roundRect">
            <a:avLst>
              <a:gd name="adj" fmla="val 4938"/>
            </a:avLst>
          </a:prstGeom>
          <a:solidFill>
            <a:srgbClr val="F0FDFA"/>
          </a:solidFill>
          <a:ln/>
        </p:spPr>
      </p:sp>
      <p:sp>
        <p:nvSpPr>
          <p:cNvPr id="44" name="Shape 29"/>
          <p:cNvSpPr/>
          <p:nvPr/>
        </p:nvSpPr>
        <p:spPr>
          <a:xfrm>
            <a:off x="10597896" y="2487168"/>
            <a:ext cx="548640" cy="54864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4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721340" y="2610612"/>
            <a:ext cx="301752" cy="301752"/>
          </a:xfrm>
          <a:prstGeom prst="rect">
            <a:avLst/>
          </a:prstGeom>
        </p:spPr>
      </p:pic>
      <p:sp>
        <p:nvSpPr>
          <p:cNvPr id="46" name="Text 30"/>
          <p:cNvSpPr/>
          <p:nvPr/>
        </p:nvSpPr>
        <p:spPr>
          <a:xfrm>
            <a:off x="10085832" y="315468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250" dirty="0"/>
          </a:p>
        </p:txBody>
      </p:sp>
      <p:sp>
        <p:nvSpPr>
          <p:cNvPr id="47" name="Text 31"/>
          <p:cNvSpPr/>
          <p:nvPr/>
        </p:nvSpPr>
        <p:spPr>
          <a:xfrm>
            <a:off x="10186416" y="3493008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reviews Income/Expense/P&amp;L, exports data</a:t>
            </a:r>
            <a:endParaRPr lang="en-US" sz="900" dirty="0"/>
          </a:p>
        </p:txBody>
      </p:sp>
      <p:sp>
        <p:nvSpPr>
          <p:cNvPr id="48" name="Text 32"/>
          <p:cNvSpPr/>
          <p:nvPr/>
        </p:nvSpPr>
        <p:spPr>
          <a:xfrm>
            <a:off x="548640" y="4709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logged, searchable, and reportable — nothing falls through the cracks.</a:t>
            </a:r>
            <a:endParaRPr lang="en-US" sz="1300" dirty="0"/>
          </a:p>
        </p:txBody>
      </p:sp>
      <p:sp>
        <p:nvSpPr>
          <p:cNvPr id="49" name="Text 33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651053"/>
            <a:ext cx="362102" cy="3621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Started — Logging In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71600" y="93268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screen every user sees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353312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73736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15568" y="1709928"/>
            <a:ext cx="5833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browser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115568" y="1993392"/>
            <a:ext cx="58338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Chrome, Edge, or Firefox all work well.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64261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2642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15568" y="2615184"/>
            <a:ext cx="5833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the system's web address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1115568" y="2898648"/>
            <a:ext cx="58338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http://localhost:5000 or your institute's hosted URL.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354787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3547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115568" y="3520440"/>
            <a:ext cx="5833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Username and Password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1115568" y="3803904"/>
            <a:ext cx="58338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credentials given to you by the Admin.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48640" y="445312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4453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115568" y="4425696"/>
            <a:ext cx="5833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"Sign In"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1115568" y="4709160"/>
            <a:ext cx="58338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details take you straight to the Dashboard.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452360" y="1737360"/>
            <a:ext cx="416052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</p:sp>
      <p:sp>
        <p:nvSpPr>
          <p:cNvPr id="24" name="Text 21"/>
          <p:cNvSpPr/>
          <p:nvPr/>
        </p:nvSpPr>
        <p:spPr>
          <a:xfrm>
            <a:off x="7726680" y="19202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LOGINS (for testing)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726680" y="23317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8823960" y="23317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CFB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  /  admin123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7726680" y="2926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8823960" y="29260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CFB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staff  /  staff123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7452360" y="3886200"/>
            <a:ext cx="4160520" cy="1234440"/>
          </a:xfrm>
          <a:prstGeom prst="roundRect">
            <a:avLst>
              <a:gd name="adj" fmla="val 5926"/>
            </a:avLst>
          </a:prstGeom>
          <a:solidFill>
            <a:srgbClr val="F0FDFA"/>
          </a:solidFill>
          <a:ln/>
        </p:spPr>
      </p:sp>
      <p:sp>
        <p:nvSpPr>
          <p:cNvPr id="30" name="Shape 27"/>
          <p:cNvSpPr/>
          <p:nvPr/>
        </p:nvSpPr>
        <p:spPr>
          <a:xfrm>
            <a:off x="7653528" y="406908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6398" y="4171950"/>
            <a:ext cx="251460" cy="25146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8229600" y="406908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Change your password immediately after your first login.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651053"/>
            <a:ext cx="362102" cy="3621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Account &amp; Password Recovery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71600" y="93268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quick self-service flows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353312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600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REGISTRATION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01168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15568" y="1984248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"Create Account"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115568" y="2267712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on the login page.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267004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2670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115568" y="2642616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your details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1115568" y="2926080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Username, Name, Email, Password.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32841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3284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115568" y="3300984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"Register"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548640" y="398678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3986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115568" y="395935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with your new username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6263640" y="1600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PASSWORD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263640" y="201168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1"/>
          <p:cNvSpPr/>
          <p:nvPr/>
        </p:nvSpPr>
        <p:spPr>
          <a:xfrm>
            <a:off x="6263640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830568" y="1984248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"Forgot Password?"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6830568" y="2267712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login page.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263640" y="267004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5"/>
          <p:cNvSpPr/>
          <p:nvPr/>
        </p:nvSpPr>
        <p:spPr>
          <a:xfrm>
            <a:off x="6263640" y="2670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830568" y="2642616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identity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6830568" y="2926080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Username and Email, click "Verify Identity".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263640" y="332841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29"/>
          <p:cNvSpPr/>
          <p:nvPr/>
        </p:nvSpPr>
        <p:spPr>
          <a:xfrm>
            <a:off x="6263640" y="33284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6830568" y="3300984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new password</a:t>
            </a:r>
            <a:endParaRPr lang="en-US" sz="1450" dirty="0"/>
          </a:p>
        </p:txBody>
      </p:sp>
      <p:sp>
        <p:nvSpPr>
          <p:cNvPr id="34" name="Text 31"/>
          <p:cNvSpPr/>
          <p:nvPr/>
        </p:nvSpPr>
        <p:spPr>
          <a:xfrm>
            <a:off x="6830568" y="3584448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it and click "Reset Password".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6263640" y="398678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Text 33"/>
          <p:cNvSpPr/>
          <p:nvPr/>
        </p:nvSpPr>
        <p:spPr>
          <a:xfrm>
            <a:off x="6263640" y="3986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6830568" y="395935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with the new password</a:t>
            </a:r>
            <a:endParaRPr lang="en-US" sz="1450" dirty="0"/>
          </a:p>
        </p:txBody>
      </p:sp>
      <p:sp>
        <p:nvSpPr>
          <p:cNvPr id="38" name="Shape 35"/>
          <p:cNvSpPr/>
          <p:nvPr/>
        </p:nvSpPr>
        <p:spPr>
          <a:xfrm>
            <a:off x="6035040" y="1600200"/>
            <a:ext cx="0" cy="42062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651053"/>
            <a:ext cx="362102" cy="3621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Dashboard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71600" y="93268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institute's health, at a glance, the moment you log in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353312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691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49808" y="189280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678" y="1995678"/>
            <a:ext cx="251460" cy="251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9808" y="2468880"/>
            <a:ext cx="4946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Cards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749808" y="2770632"/>
            <a:ext cx="4946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Students, Staff, Courses, Enquiries, Monthly Fees &amp; Expenses (financial cards: Admin only)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126480" y="1691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327648" y="189280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0518" y="1995678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27648" y="2468880"/>
            <a:ext cx="4946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&amp; Graphs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6327648" y="2770632"/>
            <a:ext cx="4946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revenue trend, 7-day attendance bars, recent payments, recent enrollments, top courses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48640" y="3913632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49808" y="41148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678" y="4217670"/>
            <a:ext cx="251460" cy="2514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49808" y="4690872"/>
            <a:ext cx="4946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Institute Advisor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749808" y="4992624"/>
            <a:ext cx="4946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Admin-only panel with smart suggestions on course performance, attendance and fee patterns — click "Refresh Insights"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6126480" y="3913632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327648" y="41148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0518" y="4217670"/>
            <a:ext cx="251460" cy="2514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327648" y="4690872"/>
            <a:ext cx="4946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6327648" y="4992624"/>
            <a:ext cx="4946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forecasts for enrollment, revenue, growth opportunities and risk factors — click "Refresh Forecasts"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651053"/>
            <a:ext cx="362102" cy="3621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Navigation &amp; Global Search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71600" y="93268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your way around the app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353312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73736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300"/>
              </a:spcAft>
              <a:buSzPct val="100000"/>
              <a:buChar char="●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sidebar (dark panel, left) groups every screen under Academic, Finance, Analytics, Extra Features and Admin Console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●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group heading to expand or collapse it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●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name, role, Dark Mode toggle and Logout button sit at the bottom of the sidebar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●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amber "GLOBAL SEARCH" bar at the top searches Students, Staff, Courses and Enquiries by name, email or phone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●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at least 2 letters — results appear instantly in a dropdown; click one to jump straight to that record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452360" y="1737360"/>
            <a:ext cx="1417320" cy="4023360"/>
          </a:xfrm>
          <a:prstGeom prst="roundRect">
            <a:avLst>
              <a:gd name="adj" fmla="val 3871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7543800" y="19659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543800" y="253288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43800" y="309981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543800" y="366674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43800" y="423367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543800" y="48006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9052560" y="1737360"/>
            <a:ext cx="2560320" cy="502920"/>
          </a:xfrm>
          <a:prstGeom prst="roundRect">
            <a:avLst>
              <a:gd name="adj" fmla="val 50909"/>
            </a:avLst>
          </a:prstGeom>
          <a:solidFill>
            <a:srgbClr val="F0FDFA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144000" y="1810512"/>
            <a:ext cx="365760" cy="36576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6296" y="1892808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601200" y="1737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students, staff, courses...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9052560" y="2331720"/>
            <a:ext cx="256032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235440" y="23957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 Kumar — Student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9235440" y="279806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 Photography — Course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9235440" y="3200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 R. — Tutor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651053"/>
            <a:ext cx="362102" cy="3621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4114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Managing Students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371600" y="93268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only — enroll, edit, and issue ID cards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353312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173736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15568" y="1709928"/>
            <a:ext cx="1049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 a new student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115568" y="1993392"/>
            <a:ext cx="10497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"Enroll Student" → enter Name, Email, Phone, select one or more Courses → click "Enroll Student".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240487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2404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115568" y="2377440"/>
            <a:ext cx="1049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 student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1115568" y="2660904"/>
            <a:ext cx="10497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pencil icon, update details in the modal, click "Update Student".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307238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3072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15568" y="3044952"/>
            <a:ext cx="1049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student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1115568" y="3328416"/>
            <a:ext cx="10497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trash icon and confirm.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373989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19"/>
          <p:cNvSpPr/>
          <p:nvPr/>
        </p:nvSpPr>
        <p:spPr>
          <a:xfrm>
            <a:off x="548640" y="3739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115568" y="3712464"/>
            <a:ext cx="1049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an ID card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1115568" y="3995928"/>
            <a:ext cx="10497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ID card icon → view the QR code &amp; details → click "Print ID Card".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48640" y="440740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3"/>
          <p:cNvSpPr/>
          <p:nvPr/>
        </p:nvSpPr>
        <p:spPr>
          <a:xfrm>
            <a:off x="548640" y="4407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1115568" y="4379976"/>
            <a:ext cx="1049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import from Excel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1115568" y="4663440"/>
            <a:ext cx="10497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"Import from Excel", upload a file — AI validates rows and suggests course mappings.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651053"/>
            <a:ext cx="362102" cy="3621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4114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Courses &amp; Tutors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371600" y="93268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only — define what you teach and who teaches it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353312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16459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01168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15568" y="1984248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course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115568" y="2267712"/>
            <a:ext cx="48280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Code, Description, Duration, Fees, Syllabus → "Create Course".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280720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2807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15568" y="2779776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 course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1115568" y="3063240"/>
            <a:ext cx="48280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Pencil icon on the course card → update → "Update Course".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360273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6"/>
          <p:cNvSpPr/>
          <p:nvPr/>
        </p:nvSpPr>
        <p:spPr>
          <a:xfrm>
            <a:off x="548640" y="3602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115568" y="3575304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course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1115568" y="3858768"/>
            <a:ext cx="48280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Trash icon → confirm. Note: this also removes its exam records.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263640" y="16459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TUTORS / STAFF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263640" y="201168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1"/>
          <p:cNvSpPr/>
          <p:nvPr/>
        </p:nvSpPr>
        <p:spPr>
          <a:xfrm>
            <a:off x="6263640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830568" y="1984248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staff member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6830568" y="2267712"/>
            <a:ext cx="48280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Email, Phone, Specialization, assign Courses → "Add Staff".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263640" y="280720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5"/>
          <p:cNvSpPr/>
          <p:nvPr/>
        </p:nvSpPr>
        <p:spPr>
          <a:xfrm>
            <a:off x="6263640" y="2807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830568" y="2779776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/ delete staff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6830568" y="3063240"/>
            <a:ext cx="48280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pencil / trash icons as Students.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263640" y="360273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29"/>
          <p:cNvSpPr/>
          <p:nvPr/>
        </p:nvSpPr>
        <p:spPr>
          <a:xfrm>
            <a:off x="6263640" y="3602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6830568" y="3575304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import</a:t>
            </a:r>
            <a:endParaRPr lang="en-US" sz="1450" dirty="0"/>
          </a:p>
        </p:txBody>
      </p:sp>
      <p:sp>
        <p:nvSpPr>
          <p:cNvPr id="34" name="Text 31"/>
          <p:cNvSpPr/>
          <p:nvPr/>
        </p:nvSpPr>
        <p:spPr>
          <a:xfrm>
            <a:off x="6830568" y="3858768"/>
            <a:ext cx="48280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 Excel file with staff data, same flow as Students.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6035040" y="1645920"/>
            <a:ext cx="0" cy="41148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651053"/>
            <a:ext cx="362102" cy="3621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4114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Marking Attendance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371600" y="93268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to everyone — Staff can only mark their own courses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353312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16459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MARKING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01168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15568" y="1984248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date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115568" y="2267712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to today.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267004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2670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15568" y="2642616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(Staff only) Choose your name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1115568" y="2926080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Tutor Filter — shows only your students.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332841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6"/>
          <p:cNvSpPr/>
          <p:nvPr/>
        </p:nvSpPr>
        <p:spPr>
          <a:xfrm>
            <a:off x="548640" y="33284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115568" y="3300984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Present / Absent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1115568" y="3584448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to each student or staff name — status updates instantly.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48640" y="398678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3986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115568" y="395935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7-day chart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1115568" y="4242816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attendance trends at the bottom of the page.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6263640" y="16459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SCANNING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263640" y="201168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5"/>
          <p:cNvSpPr/>
          <p:nvPr/>
        </p:nvSpPr>
        <p:spPr>
          <a:xfrm>
            <a:off x="6263640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830568" y="1984248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"QR Scanner"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6830568" y="2267712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Attendance page.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263640" y="267004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29"/>
          <p:cNvSpPr/>
          <p:nvPr/>
        </p:nvSpPr>
        <p:spPr>
          <a:xfrm>
            <a:off x="6263640" y="2670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6830568" y="2642616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camera access</a:t>
            </a:r>
            <a:endParaRPr lang="en-US" sz="1450" dirty="0"/>
          </a:p>
        </p:txBody>
      </p:sp>
      <p:sp>
        <p:nvSpPr>
          <p:cNvPr id="34" name="Text 31"/>
          <p:cNvSpPr/>
          <p:nvPr/>
        </p:nvSpPr>
        <p:spPr>
          <a:xfrm>
            <a:off x="6830568" y="2926080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your browser prompts you.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6263640" y="332841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Text 33"/>
          <p:cNvSpPr/>
          <p:nvPr/>
        </p:nvSpPr>
        <p:spPr>
          <a:xfrm>
            <a:off x="6263640" y="33284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6830568" y="3300984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up the printed ID card</a:t>
            </a:r>
            <a:endParaRPr lang="en-US" sz="1450" dirty="0"/>
          </a:p>
        </p:txBody>
      </p:sp>
      <p:sp>
        <p:nvSpPr>
          <p:cNvPr id="38" name="Text 35"/>
          <p:cNvSpPr/>
          <p:nvPr/>
        </p:nvSpPr>
        <p:spPr>
          <a:xfrm>
            <a:off x="6830568" y="3584448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front of the webcam.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6263640" y="398678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0" name="Text 37"/>
          <p:cNvSpPr/>
          <p:nvPr/>
        </p:nvSpPr>
        <p:spPr>
          <a:xfrm>
            <a:off x="6263640" y="3986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6830568" y="395935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is marked automatically</a:t>
            </a:r>
            <a:endParaRPr lang="en-US" sz="1450" dirty="0"/>
          </a:p>
        </p:txBody>
      </p:sp>
      <p:sp>
        <p:nvSpPr>
          <p:cNvPr id="42" name="Text 39"/>
          <p:cNvSpPr/>
          <p:nvPr/>
        </p:nvSpPr>
        <p:spPr>
          <a:xfrm>
            <a:off x="6830568" y="4242816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clicking needed.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6035040" y="1645920"/>
            <a:ext cx="0" cy="41148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only: click "Analyze Attendance" for AI-powered insights on patterns and at-risk students.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651053"/>
            <a:ext cx="362102" cy="3621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4114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Exams &amp; Leave Requests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371600" y="93268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performance and manage staff time off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353312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16459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EXAMS  (Admin only)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01168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15568" y="1984248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exam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115568" y="2267712"/>
            <a:ext cx="48280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Course, Title, Date, Max Marks, Passing Marks → "Create Exam".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280720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2807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15568" y="2779776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scores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1115568" y="3063240"/>
            <a:ext cx="48280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"Scores", type marks per student, "Save Scores".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360273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6"/>
          <p:cNvSpPr/>
          <p:nvPr/>
        </p:nvSpPr>
        <p:spPr>
          <a:xfrm>
            <a:off x="548640" y="3602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115568" y="3575304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report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1115568" y="3858768"/>
            <a:ext cx="48280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"Report" for PDF rankings, pass/fail, class average.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263640" y="16459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 (Everyone)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263640" y="201168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1"/>
          <p:cNvSpPr/>
          <p:nvPr/>
        </p:nvSpPr>
        <p:spPr>
          <a:xfrm>
            <a:off x="6263640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830568" y="1984248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applies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6830568" y="2267712"/>
            <a:ext cx="48280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Date, End Date, Reason → "Submit Request" (status: Pending).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263640" y="280720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5"/>
          <p:cNvSpPr/>
          <p:nvPr/>
        </p:nvSpPr>
        <p:spPr>
          <a:xfrm>
            <a:off x="6263640" y="2807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830568" y="2779776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approves or rejects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6830568" y="3063240"/>
            <a:ext cx="48280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next to each request in the table.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263640" y="360273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29"/>
          <p:cNvSpPr/>
          <p:nvPr/>
        </p:nvSpPr>
        <p:spPr>
          <a:xfrm>
            <a:off x="6263640" y="3602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6830568" y="3575304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is kept</a:t>
            </a:r>
            <a:endParaRPr lang="en-US" sz="1450" dirty="0"/>
          </a:p>
        </p:txBody>
      </p:sp>
      <p:sp>
        <p:nvSpPr>
          <p:cNvPr id="34" name="Text 31"/>
          <p:cNvSpPr/>
          <p:nvPr/>
        </p:nvSpPr>
        <p:spPr>
          <a:xfrm>
            <a:off x="6830568" y="3858768"/>
            <a:ext cx="48280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roles can view their full leave history.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6035040" y="1645920"/>
            <a:ext cx="0" cy="41148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651053"/>
            <a:ext cx="362102" cy="3621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4114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Enquiries — The Sales Pipeline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371600" y="93268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interest into enrollment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353312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78028" y="182880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64748B"/>
          </a:solidFill>
          <a:ln/>
        </p:spPr>
      </p:sp>
      <p:sp>
        <p:nvSpPr>
          <p:cNvPr id="10" name="Text 7"/>
          <p:cNvSpPr/>
          <p:nvPr/>
        </p:nvSpPr>
        <p:spPr>
          <a:xfrm>
            <a:off x="678028" y="18288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6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8056" y="2194560"/>
            <a:ext cx="237744" cy="2377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466948" y="182880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D97706"/>
          </a:solidFill>
          <a:ln/>
        </p:spPr>
      </p:sp>
      <p:sp>
        <p:nvSpPr>
          <p:cNvPr id="13" name="Text 9"/>
          <p:cNvSpPr/>
          <p:nvPr/>
        </p:nvSpPr>
        <p:spPr>
          <a:xfrm>
            <a:off x="3466948" y="18288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Contacted</a:t>
            </a:r>
            <a:endParaRPr lang="en-US" sz="16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976" y="2194560"/>
            <a:ext cx="237744" cy="23774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255868" y="182880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0D9488"/>
          </a:solidFill>
          <a:ln/>
        </p:spPr>
      </p:sp>
      <p:sp>
        <p:nvSpPr>
          <p:cNvPr id="16" name="Text 11"/>
          <p:cNvSpPr/>
          <p:nvPr/>
        </p:nvSpPr>
        <p:spPr>
          <a:xfrm>
            <a:off x="6255868" y="18288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</a:t>
            </a:r>
            <a:endParaRPr lang="en-US" sz="16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5896" y="2194560"/>
            <a:ext cx="237744" cy="23774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9044788" y="182880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B91C1C"/>
          </a:solidFill>
          <a:ln/>
        </p:spPr>
      </p:sp>
      <p:sp>
        <p:nvSpPr>
          <p:cNvPr id="19" name="Text 13"/>
          <p:cNvSpPr/>
          <p:nvPr/>
        </p:nvSpPr>
        <p:spPr>
          <a:xfrm>
            <a:off x="9044788" y="18288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548640" y="324612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5"/>
          <p:cNvSpPr/>
          <p:nvPr/>
        </p:nvSpPr>
        <p:spPr>
          <a:xfrm>
            <a:off x="548640" y="3246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1115568" y="3218688"/>
            <a:ext cx="1049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 new enquiry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1115568" y="3502152"/>
            <a:ext cx="10497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Name, Phone, Course Interested In, Source (Walk-in/Website/Referral/Social) → "Add Enquiry".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390448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19"/>
          <p:cNvSpPr/>
          <p:nvPr/>
        </p:nvSpPr>
        <p:spPr>
          <a:xfrm>
            <a:off x="548640" y="3904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1115568" y="3877056"/>
            <a:ext cx="1049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it through the pipeline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1115568" y="4160520"/>
            <a:ext cx="10497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status as you contact and follow up with the prospect.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548640" y="456285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3"/>
          <p:cNvSpPr/>
          <p:nvPr/>
        </p:nvSpPr>
        <p:spPr>
          <a:xfrm>
            <a:off x="548640" y="45628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1115568" y="4535424"/>
            <a:ext cx="1049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follow-up messages</a:t>
            </a:r>
            <a:endParaRPr lang="en-US" sz="1450" dirty="0"/>
          </a:p>
        </p:txBody>
      </p:sp>
      <p:sp>
        <p:nvSpPr>
          <p:cNvPr id="31" name="Text 25"/>
          <p:cNvSpPr/>
          <p:nvPr/>
        </p:nvSpPr>
        <p:spPr>
          <a:xfrm>
            <a:off x="1115568" y="4818888"/>
            <a:ext cx="10497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AI icon next to an enquiry for a ready-made, personalized message draft.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548640" y="522122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3" name="Text 27"/>
          <p:cNvSpPr/>
          <p:nvPr/>
        </p:nvSpPr>
        <p:spPr>
          <a:xfrm>
            <a:off x="548640" y="5221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4" name="Text 28"/>
          <p:cNvSpPr/>
          <p:nvPr/>
        </p:nvSpPr>
        <p:spPr>
          <a:xfrm>
            <a:off x="1115568" y="5193792"/>
            <a:ext cx="1049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student</a:t>
            </a:r>
            <a:endParaRPr lang="en-US" sz="1450" dirty="0"/>
          </a:p>
        </p:txBody>
      </p:sp>
      <p:sp>
        <p:nvSpPr>
          <p:cNvPr id="35" name="Text 29"/>
          <p:cNvSpPr/>
          <p:nvPr/>
        </p:nvSpPr>
        <p:spPr>
          <a:xfrm>
            <a:off x="1115568" y="5477256"/>
            <a:ext cx="10497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"Convert to Student" — a student record is created automatically and you're redirected to Students.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651053"/>
            <a:ext cx="362102" cy="3621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4114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Fees &amp; Ledger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371600" y="93268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only — record and track every payment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353312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173736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15568" y="1709928"/>
            <a:ext cx="1049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 payment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115568" y="1993392"/>
            <a:ext cx="104973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"Record Payment" → select Student, enter Amount Paid, Payment Method (Cash/Card/UPI/Bank Transfer), Remarks → "Record Payment".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264261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2642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115568" y="2615184"/>
            <a:ext cx="1049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student balances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1115568" y="2898648"/>
            <a:ext cx="104973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Balances table shows Total Fees, Total Paid, Outstanding Balance and a status indicator.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354787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3547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15568" y="3520440"/>
            <a:ext cx="1049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AI Fee Analysis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1115568" y="3803904"/>
            <a:ext cx="104973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"Analyze Fees" for collection trends, default-risk predictions and recommendations.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45312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19"/>
          <p:cNvSpPr/>
          <p:nvPr/>
        </p:nvSpPr>
        <p:spPr>
          <a:xfrm>
            <a:off x="548640" y="4453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115568" y="4425696"/>
            <a:ext cx="1049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or invoice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1115568" y="4709160"/>
            <a:ext cx="104973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Export dropdown for Tally XML, Zoho Books CSV, or a GST-compliant Invoice PDF.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651053"/>
            <a:ext cx="362102" cy="3621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4114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Expenses &amp; Payroll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371600" y="93268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only — where the money goes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353312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16459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01168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15568" y="1984248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expense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115568" y="2267712"/>
            <a:ext cx="48280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(Rent/Electricity/Salary/Supplies), Amount, Description, Date → "Add Expense".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280720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2807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15568" y="2779776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the list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1115568" y="3063240"/>
            <a:ext cx="48280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Category, Month and Year dropdowns.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360273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6"/>
          <p:cNvSpPr/>
          <p:nvPr/>
        </p:nvSpPr>
        <p:spPr>
          <a:xfrm>
            <a:off x="548640" y="3602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115568" y="3575304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with AI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1115568" y="3858768"/>
            <a:ext cx="48280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"Optimize Expenses" for overspend areas &amp; savings ideas.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263640" y="16459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263640" y="201168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1"/>
          <p:cNvSpPr/>
          <p:nvPr/>
        </p:nvSpPr>
        <p:spPr>
          <a:xfrm>
            <a:off x="6263640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830568" y="1984248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 tutor's payroll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6830568" y="2267712"/>
            <a:ext cx="48280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Salary, Commission %, TDS %, Bonus, Deductions, Bank Details.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263640" y="280720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5"/>
          <p:cNvSpPr/>
          <p:nvPr/>
        </p:nvSpPr>
        <p:spPr>
          <a:xfrm>
            <a:off x="6263640" y="2807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830568" y="2779776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payroll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6830568" y="3063240"/>
            <a:ext cx="48280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"Process Payroll" (one tutor) or "Process All" — creates a Draft record.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263640" y="360273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29"/>
          <p:cNvSpPr/>
          <p:nvPr/>
        </p:nvSpPr>
        <p:spPr>
          <a:xfrm>
            <a:off x="6263640" y="3602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6830568" y="3575304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&amp; pay</a:t>
            </a:r>
            <a:endParaRPr lang="en-US" sz="1450" dirty="0"/>
          </a:p>
        </p:txBody>
      </p:sp>
      <p:sp>
        <p:nvSpPr>
          <p:cNvPr id="34" name="Text 31"/>
          <p:cNvSpPr/>
          <p:nvPr/>
        </p:nvSpPr>
        <p:spPr>
          <a:xfrm>
            <a:off x="6830568" y="3858768"/>
            <a:ext cx="48280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"Confirm" creates an expense entry and marks it Paid; download the Payslip PDF.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6035040" y="1645920"/>
            <a:ext cx="0" cy="41148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263640" y="50749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 Amount = Base Salary + Commission + Bonus − TDS − Other Deductions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651053"/>
            <a:ext cx="362102" cy="3621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4114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&amp; Downloads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371600" y="93268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only — every number, filterable and exportable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353312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7406640" cy="2743200"/>
        </p:xfrm>
        <a:graphic>
          <a:graphicData uri="http://schemas.openxmlformats.org/drawingml/2006/table">
            <a:tbl>
              <a:tblPr/>
              <a:tblGrid>
                <a:gridCol w="2011680"/>
                <a:gridCol w="3749040"/>
                <a:gridCol w="822960"/>
                <a:gridCol w="822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Shows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Fees collected, period-wise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 fee records in the period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expenses, period-wise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(P&amp;L)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 &amp; Loss — Income minus Expenses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Methods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/ Card / UPI breakdown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48640" y="4572000"/>
            <a:ext cx="7406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Monthly, Quarterly, or a Custom date range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tab includes a chart visualizing the data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"Download PDF" for a printable report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"Download Excel" for a spreadsheet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0" y="1691640"/>
            <a:ext cx="3383280" cy="4617720"/>
          </a:xfrm>
          <a:prstGeom prst="roundRect">
            <a:avLst>
              <a:gd name="adj" fmla="val 2162"/>
            </a:avLst>
          </a:prstGeom>
          <a:solidFill>
            <a:srgbClr val="F0FDFA"/>
          </a:solidFill>
          <a:ln/>
        </p:spPr>
      </p:sp>
      <p:sp>
        <p:nvSpPr>
          <p:cNvPr id="12" name="Shape 8"/>
          <p:cNvSpPr/>
          <p:nvPr/>
        </p:nvSpPr>
        <p:spPr>
          <a:xfrm>
            <a:off x="8458200" y="192024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1357" y="2033397"/>
            <a:ext cx="276606" cy="27660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58200" y="2560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Access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8458200" y="2926080"/>
            <a:ext cx="29260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tab → choose report type → pick a filter → download.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pull live from Fees, Expenses and Payroll records — no manual reconciliation needed.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651053"/>
            <a:ext cx="362102" cy="3621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4114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Form Sync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371600" y="93268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only — pull enquiries straight from a Google Form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353312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173736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15568" y="1709928"/>
            <a:ext cx="1049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Service Account Key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115568" y="1993392"/>
            <a:ext cx="10497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JSON key file from Google Cloud Console.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240487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2404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115568" y="2377440"/>
            <a:ext cx="1049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Spreadsheet ID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1115568" y="2660904"/>
            <a:ext cx="10497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 ID string found in your Google Sheet's URL.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307238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3072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15568" y="3044952"/>
            <a:ext cx="1049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Form URL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1115568" y="3328416"/>
            <a:ext cx="10497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click "Save Settings".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373989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19"/>
          <p:cNvSpPr/>
          <p:nvPr/>
        </p:nvSpPr>
        <p:spPr>
          <a:xfrm>
            <a:off x="548640" y="3739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115568" y="3712464"/>
            <a:ext cx="1049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connection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1115568" y="3995928"/>
            <a:ext cx="10497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"Test Connection" to confirm everything works.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48640" y="440740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3"/>
          <p:cNvSpPr/>
          <p:nvPr/>
        </p:nvSpPr>
        <p:spPr>
          <a:xfrm>
            <a:off x="548640" y="4407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1115568" y="4379976"/>
            <a:ext cx="1049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data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1115568" y="4663440"/>
            <a:ext cx="10497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"Sync Now" — new form submissions become Enquiries; duplicates are skipped and missing courses are auto-created.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651053"/>
            <a:ext cx="362102" cy="3621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4114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QR Code ID Cards &amp; Scanning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371600" y="93268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QR code, two uses: identification and attendance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353312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16459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/ PRINT AN ID CARD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01168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15568" y="1984248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Students or Staff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115568" y="2267712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Whichever person needs a card.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267004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2670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15568" y="2642616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ID card icon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1115568" y="2926080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to their name.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332841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6"/>
          <p:cNvSpPr/>
          <p:nvPr/>
        </p:nvSpPr>
        <p:spPr>
          <a:xfrm>
            <a:off x="548640" y="33284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115568" y="3300984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card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1115568" y="3584448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name, email, phone and QR code.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48640" y="398678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3986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115568" y="395935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"Print ID Card"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6263640" y="16459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FOR ATTENDANCE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263640" y="201168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4"/>
          <p:cNvSpPr/>
          <p:nvPr/>
        </p:nvSpPr>
        <p:spPr>
          <a:xfrm>
            <a:off x="6263640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830568" y="1984248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Attendance</a:t>
            </a:r>
            <a:endParaRPr lang="en-US" sz="1450" dirty="0"/>
          </a:p>
        </p:txBody>
      </p:sp>
      <p:sp>
        <p:nvSpPr>
          <p:cNvPr id="29" name="Shape 26"/>
          <p:cNvSpPr/>
          <p:nvPr/>
        </p:nvSpPr>
        <p:spPr>
          <a:xfrm>
            <a:off x="6263640" y="267004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7"/>
          <p:cNvSpPr/>
          <p:nvPr/>
        </p:nvSpPr>
        <p:spPr>
          <a:xfrm>
            <a:off x="6263640" y="2670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6830568" y="2642616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"QR Scanner"</a:t>
            </a:r>
            <a:endParaRPr lang="en-US" sz="1450" dirty="0"/>
          </a:p>
        </p:txBody>
      </p:sp>
      <p:sp>
        <p:nvSpPr>
          <p:cNvPr id="32" name="Text 29"/>
          <p:cNvSpPr/>
          <p:nvPr/>
        </p:nvSpPr>
        <p:spPr>
          <a:xfrm>
            <a:off x="6830568" y="2926080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camera access when prompted.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263640" y="332841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4" name="Text 31"/>
          <p:cNvSpPr/>
          <p:nvPr/>
        </p:nvSpPr>
        <p:spPr>
          <a:xfrm>
            <a:off x="6263640" y="33284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6830568" y="3300984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the ID card to the webcam</a:t>
            </a:r>
            <a:endParaRPr lang="en-US" sz="1450" dirty="0"/>
          </a:p>
        </p:txBody>
      </p:sp>
      <p:sp>
        <p:nvSpPr>
          <p:cNvPr id="36" name="Shape 33"/>
          <p:cNvSpPr/>
          <p:nvPr/>
        </p:nvSpPr>
        <p:spPr>
          <a:xfrm>
            <a:off x="6263640" y="398678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7" name="Text 34"/>
          <p:cNvSpPr/>
          <p:nvPr/>
        </p:nvSpPr>
        <p:spPr>
          <a:xfrm>
            <a:off x="6263640" y="3986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830568" y="395935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is marked automatically</a:t>
            </a:r>
            <a:endParaRPr lang="en-US" sz="1450" dirty="0"/>
          </a:p>
        </p:txBody>
      </p:sp>
      <p:sp>
        <p:nvSpPr>
          <p:cNvPr id="39" name="Shape 36"/>
          <p:cNvSpPr/>
          <p:nvPr/>
        </p:nvSpPr>
        <p:spPr>
          <a:xfrm>
            <a:off x="6035040" y="1645920"/>
            <a:ext cx="0" cy="41148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651053"/>
            <a:ext cx="362102" cy="3621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4114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GST Invoices, Accounting Exports &amp; Excel Import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371600" y="93268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your books and bulk data in sync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353312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1691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9808" y="189280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678" y="1995678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" y="2468880"/>
            <a:ext cx="4946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Invoice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49808" y="2770632"/>
            <a:ext cx="4946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&amp; Ledger → invoice icon → PDF with invoice no., student &amp; course, CGST/SGST breakdown, org details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26480" y="1691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27648" y="189280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0518" y="1995678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27648" y="2468880"/>
            <a:ext cx="4946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 / Zoho Export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327648" y="2770632"/>
            <a:ext cx="4946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dropdown → "Tally XML" or "Zoho Books CSV" — ready to import into your accounting software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913632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41148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678" y="421767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" y="4690872"/>
            <a:ext cx="4946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Excel Import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49808" y="4992624"/>
            <a:ext cx="4946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Students/Staff page → "Import from Excel" → upload .xlsx/.xls with Name, Email, Phone (+ Course/Specialization)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126480" y="3913632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327648" y="41148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0518" y="4217670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327648" y="4690872"/>
            <a:ext cx="4946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Validation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6327648" y="4992624"/>
            <a:ext cx="4946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checks for missing data &amp; duplicate emails, and suggests course mapping before you confirm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651053"/>
            <a:ext cx="362102" cy="3621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Chatbot Assistant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71600" y="93268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 instead of clicking through menus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353312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73736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15568" y="1709928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smiley-face button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115568" y="1993392"/>
            <a:ext cx="510235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Bottom-right corner — available on every page.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73405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2734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15568" y="2706624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question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1115568" y="2990088"/>
            <a:ext cx="510235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Enter or click Send.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373075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3730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115568" y="3703320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an instant answer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1115568" y="3986784"/>
            <a:ext cx="510235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live from the database, using Gemini/OpenAI if configured, or rule-based logic if not.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537960" y="1737360"/>
            <a:ext cx="5074920" cy="4023360"/>
          </a:xfrm>
          <a:prstGeom prst="roundRect">
            <a:avLst>
              <a:gd name="adj" fmla="val 1818"/>
            </a:avLst>
          </a:prstGeom>
          <a:solidFill>
            <a:srgbClr val="F8FAFC"/>
          </a:solidFill>
          <a:ln/>
        </p:spPr>
      </p:sp>
      <p:sp>
        <p:nvSpPr>
          <p:cNvPr id="20" name="Text 17"/>
          <p:cNvSpPr/>
          <p:nvPr/>
        </p:nvSpPr>
        <p:spPr>
          <a:xfrm>
            <a:off x="6766560" y="192024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ASKING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766560" y="2286000"/>
            <a:ext cx="461772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995160" y="2286000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many students are there?"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766560" y="2834640"/>
            <a:ext cx="461772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995160" y="2834640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"Who hasn't paid fees?"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766560" y="3383280"/>
            <a:ext cx="461772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995160" y="3383280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today's attendance?"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766560" y="3931920"/>
            <a:ext cx="461772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995160" y="3931920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"Show students with low attendance"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6766560" y="4480560"/>
            <a:ext cx="461772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6995160" y="4480560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"When is the next exam?"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766560" y="5029200"/>
            <a:ext cx="461772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995160" y="5029200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"Are there any pending leave requests?"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CONSOLE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651053"/>
            <a:ext cx="362102" cy="3621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4114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Console — System Settings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371600" y="93268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only — the control center for the entire app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353312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1691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9808" y="18928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678" y="1995678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" y="2468880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Keys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49808" y="2770632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Gemini or OpenAI API key. Without one, AI features still work with built-in rule-based logic.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251960" y="1691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453128" y="18928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5998" y="1995678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453128" y="2468880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(Email)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4453128" y="2770632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Server, port, username, password &amp; sender address for outgoing notification emails.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955280" y="1691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156448" y="18928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9318" y="1995678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156448" y="2468880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Settings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156448" y="2770632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Cloud API token &amp; phone ID — send fee reminders, attendance alerts, exam schedules.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3886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49808" y="40873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678" y="4190238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49808" y="4663440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Gateway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749808" y="4965192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HTTP SMS provider — configure URL, API key and parameter names.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4251960" y="3886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453128" y="40873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5998" y="4190238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453128" y="4663440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&amp; GST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4453128" y="4965192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name, address, GSTIN, HSN code, CGST/SGST %, invoice prefix.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7955280" y="3886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156448" y="40873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9318" y="4190238"/>
            <a:ext cx="251460" cy="25146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8156448" y="4663440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Backups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8156448" y="4965192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 accounts; trigger manual backup or restore from a previous backup.</a:t>
            </a:r>
            <a:endParaRPr lang="en-US" sz="1050" dirty="0"/>
          </a:p>
        </p:txBody>
      </p:sp>
      <p:sp>
        <p:nvSpPr>
          <p:cNvPr id="39" name="Text 30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651053"/>
            <a:ext cx="362102" cy="3621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 Features — Dark Mode &amp; Backups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71600" y="93268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to everyone; full backup control is Admin only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353312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6459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01168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15568" y="1984248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moon / sun icon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115568" y="2267712"/>
            <a:ext cx="48280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sidebar footer, or on the Extras page.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292608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2926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115568" y="2898648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theme switches instantly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1115568" y="3182112"/>
            <a:ext cx="48280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preference is saved automatically for next time.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263640" y="16459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RESTORE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263640" y="201168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5"/>
          <p:cNvSpPr/>
          <p:nvPr/>
        </p:nvSpPr>
        <p:spPr>
          <a:xfrm>
            <a:off x="6263640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830568" y="1984248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Auto-backup runs daily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6830568" y="2267712"/>
            <a:ext cx="4828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Automatically, on first page load each day.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263640" y="272491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19"/>
          <p:cNvSpPr/>
          <p:nvPr/>
        </p:nvSpPr>
        <p:spPr>
          <a:xfrm>
            <a:off x="6263640" y="2724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830568" y="2697480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backup anytime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6830568" y="2980944"/>
            <a:ext cx="4828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Extras → "Backup Now".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263640" y="343814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3"/>
          <p:cNvSpPr/>
          <p:nvPr/>
        </p:nvSpPr>
        <p:spPr>
          <a:xfrm>
            <a:off x="6263640" y="3438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830568" y="341071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when needed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6830568" y="3694176"/>
            <a:ext cx="4828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Extras → choose a backup file → "Restore".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6035040" y="1645920"/>
            <a:ext cx="0" cy="41148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63640" y="4709160"/>
            <a:ext cx="5394960" cy="685800"/>
          </a:xfrm>
          <a:prstGeom prst="roundRect">
            <a:avLst>
              <a:gd name="adj" fmla="val 10667"/>
            </a:avLst>
          </a:prstGeom>
          <a:solidFill>
            <a:srgbClr val="FEF2F2"/>
          </a:solidFill>
          <a:ln/>
        </p:spPr>
      </p:sp>
      <p:sp>
        <p:nvSpPr>
          <p:cNvPr id="31" name="Shape 28"/>
          <p:cNvSpPr/>
          <p:nvPr/>
        </p:nvSpPr>
        <p:spPr>
          <a:xfrm>
            <a:off x="6446520" y="4837176"/>
            <a:ext cx="420624" cy="420624"/>
          </a:xfrm>
          <a:prstGeom prst="ellipse">
            <a:avLst/>
          </a:prstGeom>
          <a:solidFill>
            <a:srgbClr val="B91C1C"/>
          </a:solidFill>
          <a:ln/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1160" y="4931816"/>
            <a:ext cx="231343" cy="231343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6995160" y="47091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Warning: Restoring replaces ALL current data and cannot be undone.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651053"/>
            <a:ext cx="362102" cy="3621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Tips &amp; Quick Troubleshooting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71600" y="93268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habits that save a lot of time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353312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6459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HANDY TIPS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011680"/>
            <a:ext cx="5394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Global Search instead of navigating menus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AI Chatbot for quick answers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QR Scanner for fast, hands-free attendance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table column header to sort by it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Auto-backup runs daily — no manual action needed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263640" y="16459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FIXES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263640" y="2011680"/>
            <a:ext cx="5394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"Invalid credentials" — double-check username/password spelling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scanner not working — allow camera access in browser settings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looks broken — hard refresh (Ctrl+F5 / Cmd+Shift+R)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says "I don't understand" — try rephrasing, or ask "Help"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Accidentally deleted data — restore from the most recent backup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035040" y="1645920"/>
            <a:ext cx="0" cy="42062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572000" cy="457200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4206240" cy="420624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4" name="Shape 2"/>
          <p:cNvSpPr/>
          <p:nvPr/>
        </p:nvSpPr>
        <p:spPr>
          <a:xfrm>
            <a:off x="5367528" y="146304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3268" y="16687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743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You're Ready to Go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enquiry to graduation — every step is a click away.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4389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Ask the AI Chatbot, or reach out to your system Admin.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Guha Institute Management System — Training Guide</dc:title>
  <dc:subject>PptxGenJS Presentation</dc:subject>
  <dc:creator>Guha Academy</dc:creator>
  <cp:lastModifiedBy>Guha Academy</cp:lastModifiedBy>
  <cp:revision>1</cp:revision>
  <dcterms:created xsi:type="dcterms:W3CDTF">2026-07-09T02:41:10Z</dcterms:created>
  <dcterms:modified xsi:type="dcterms:W3CDTF">2026-07-09T02:41:10Z</dcterms:modified>
</cp:coreProperties>
</file>